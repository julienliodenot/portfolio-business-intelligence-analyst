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 bookmarkIdSeed="4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294" r:id="rId3"/>
    <p:sldId id="281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4" r:id="rId12"/>
    <p:sldId id="302" r:id="rId13"/>
    <p:sldId id="303" r:id="rId14"/>
    <p:sldId id="305" r:id="rId1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Nunito" pitchFamily="2" charset="0"/>
      <p:regular r:id="rId26"/>
      <p:bold r:id="rId27"/>
      <p:italic r:id="rId28"/>
      <p:boldItalic r:id="rId29"/>
    </p:embeddedFont>
    <p:embeddedFont>
      <p:font typeface="Wingdings 3" panose="05040102010807070707" pitchFamily="18" charset="2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jPQChcynK0uSiMmFn/cMlX7yPp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 autoAdjust="0"/>
    <p:restoredTop sz="93404" autoAdjust="0"/>
  </p:normalViewPr>
  <p:slideViewPr>
    <p:cSldViewPr snapToGrid="0">
      <p:cViewPr varScale="1">
        <p:scale>
          <a:sx n="140" d="100"/>
          <a:sy n="140" d="100"/>
        </p:scale>
        <p:origin x="77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53D7C1F-15CE-BD25-3EAC-81E51C0DA5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AB70E2C-5B85-0241-0025-4B6A1D83CA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FE713-0AEB-4B43-BF36-3015909EF70B}" type="datetimeFigureOut">
              <a:rPr lang="fr-FR" smtClean="0"/>
              <a:t>23/09/2025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E9B1615-CC6A-8AEE-8471-C09606B796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B8F606-2025-263C-0719-07E31A24FD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14A28-0211-48F1-BD97-CC702AF78F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6675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088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4E0A8261-1A53-0B3B-B78B-7C0AEAB6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32620AE7-7CF1-94EF-92C0-AD42F7B76B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9016CE75-36E1-E276-1F1E-90FEB2D099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3433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C3AAB5C6-3835-104D-468C-65DF2AD3F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40F2C2A7-5A14-6131-EB87-FA3354A9E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F1E99FCE-5D1D-B2D3-7889-9D0A64DB67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6876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F23E47D0-73FA-CA49-B6B2-5EF4F753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98CF4C8E-AFEE-1C8F-1823-684A9B11E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5B8439D7-0EEE-BAB6-0BFE-63FA667E6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6911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F6CF9E3D-C8B9-8958-008E-0FB686C3B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72497D63-688E-8AD3-673E-CE2AA9DCC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42EFF458-2F6D-FACF-AD92-19720FA222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0383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EE5028E6-B0C7-8267-315C-201E4109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7E514A90-F583-C852-A363-B24F676F7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C02C195B-57B2-8E46-ED73-8EA71C4135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653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89B066F8-0DE7-1012-F03A-3F74CDEF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348B995F-C09E-3BE1-B2DA-81381F699B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7E2656CD-8CA2-B754-732B-5565AB332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9268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9C15FEA9-1F9A-1FE8-A18D-3CAE129C3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35D9DAE2-28AA-C231-F052-DD2656F6B9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7777A1D2-3BCB-163D-1FD6-9D21E44EF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5237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4E2A58FA-789D-8F8F-1284-629B05EC8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DE32EAD7-3839-2FEA-5C29-5551910FCC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419DF913-7CA6-CAD5-59B3-E5BB09AE4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34272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2ED8DEF6-567F-2A1F-AC48-FD5F3CBC6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7D735694-4E5C-356A-480B-C0DEF0AD0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1736D0A2-4A45-4562-0AC8-A5BAA04A8F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71450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>
          <a:extLst>
            <a:ext uri="{FF2B5EF4-FFF2-40B4-BE49-F238E27FC236}">
              <a16:creationId xmlns:a16="http://schemas.microsoft.com/office/drawing/2014/main" id="{9452F871-5FD0-D774-552D-BC9B6476F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:notes">
            <a:extLst>
              <a:ext uri="{FF2B5EF4-FFF2-40B4-BE49-F238E27FC236}">
                <a16:creationId xmlns:a16="http://schemas.microsoft.com/office/drawing/2014/main" id="{06CA6183-F715-B4B4-CF83-AE81B3DA2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:notes">
            <a:extLst>
              <a:ext uri="{FF2B5EF4-FFF2-40B4-BE49-F238E27FC236}">
                <a16:creationId xmlns:a16="http://schemas.microsoft.com/office/drawing/2014/main" id="{A0AE7AE6-A745-3924-FE4B-AE3628F88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54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96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290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21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6581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30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957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7538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204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6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969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87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1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673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8585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571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454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40335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490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602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chemeClr val="bg1">
                <a:lumMod val="50000"/>
                <a:lumOff val="50000"/>
              </a:schemeClr>
            </a:gs>
            <a:gs pos="100000">
              <a:schemeClr val="tx1">
                <a:lumMod val="85000"/>
              </a:schemeClr>
            </a:gs>
          </a:gsLst>
          <a:lin ang="16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5877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ulienliodeno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ulienliodenot/Portfolio-Business-Intelligence-Analyst" TargetMode="Externa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EE038F-0308-E1A2-A878-4D90CF99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12827"/>
            <a:ext cx="8672285" cy="3573300"/>
          </a:xfrm>
        </p:spPr>
        <p:txBody>
          <a:bodyPr>
            <a:normAutofit/>
          </a:bodyPr>
          <a:lstStyle/>
          <a:p>
            <a:pPr algn="ctr" rtl="0" eaLnBrk="1" latinLnBrk="0" hangingPunct="1"/>
            <a:r>
              <a:rPr kumimoji="0" lang="fr-FR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  <a:t>Cahier des charges</a:t>
            </a:r>
            <a:br>
              <a:rPr lang="fr-FR" cap="none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</a:br>
            <a:br>
              <a:rPr lang="fr-FR" cap="none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/>
              </a:rPr>
            </a:br>
            <a:r>
              <a:rPr kumimoji="0" lang="fr-FR" b="1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entury Gothic" panose="020B0502020202020204"/>
                <a:ea typeface="+mj-ea"/>
                <a:cs typeface="+mj-cs"/>
              </a:rPr>
              <a:t>Elaboration d’un Portfolio</a:t>
            </a:r>
            <a:endParaRPr lang="fr-FR" b="1" dirty="0">
              <a:effectLst/>
            </a:endParaRPr>
          </a:p>
        </p:txBody>
      </p:sp>
      <p:sp>
        <p:nvSpPr>
          <p:cNvPr id="5" name="Google Shape;283;p2">
            <a:extLst>
              <a:ext uri="{FF2B5EF4-FFF2-40B4-BE49-F238E27FC236}">
                <a16:creationId xmlns:a16="http://schemas.microsoft.com/office/drawing/2014/main" id="{52448C76-45AB-D8FE-DE97-24A22AB2E511}"/>
              </a:ext>
            </a:extLst>
          </p:cNvPr>
          <p:cNvSpPr txBox="1">
            <a:spLocks/>
          </p:cNvSpPr>
          <p:nvPr/>
        </p:nvSpPr>
        <p:spPr>
          <a:xfrm>
            <a:off x="-342479" y="4734597"/>
            <a:ext cx="3508760" cy="40890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marL="457200" lvl="0" indent="-3111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300"/>
              <a:buFont typeface="Wingdings 3" panose="05040102010807070707" pitchFamily="18" charset="2"/>
              <a:buChar char="●"/>
              <a:defRPr sz="15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914400" lvl="1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3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371600" lvl="2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2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828800" lvl="3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286000" lvl="4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743200" lvl="5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3200400" lvl="6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●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657600" lvl="7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○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4114800" lvl="8" indent="-298450" algn="l" defTabSz="3429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100"/>
              <a:buFont typeface="Wingdings 3" panose="05040102010807070707" pitchFamily="18" charset="2"/>
              <a:buChar char="■"/>
              <a:defRPr sz="105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>
                <a:solidFill>
                  <a:schemeClr val="bg1"/>
                </a:solidFill>
              </a:rPr>
              <a:t>	Liodenot Julien-Septembre 2025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fr-FR" sz="1400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242853F5-95CB-C139-E37A-7B6755BD27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1E1371-F3C6-57F6-3A39-2B01CD8B8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5657"/>
            <a:ext cx="1746060" cy="174606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60F2E14-7FEA-806A-BFE3-88CB5E5299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  <p:sp>
        <p:nvSpPr>
          <p:cNvPr id="4" name="Google Shape;282;p2">
            <a:extLst>
              <a:ext uri="{FF2B5EF4-FFF2-40B4-BE49-F238E27FC236}">
                <a16:creationId xmlns:a16="http://schemas.microsoft.com/office/drawing/2014/main" id="{1C0DCF94-B87A-809D-DE27-B89988323A27}"/>
              </a:ext>
            </a:extLst>
          </p:cNvPr>
          <p:cNvSpPr txBox="1">
            <a:spLocks/>
          </p:cNvSpPr>
          <p:nvPr/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3429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kern="1200" cap="all">
                <a:ln w="3175" cmpd="sng">
                  <a:noFill/>
                </a:ln>
                <a:solidFill>
                  <a:schemeClr val="lt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pPr algn="ctr">
              <a:buSzPts val="2800"/>
            </a:pPr>
            <a:r>
              <a:rPr lang="fr-FR" cap="none" dirty="0">
                <a:ln w="0"/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SOMMAIRE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733C9FB-AA04-575E-2A8F-03BCFF17A8CF}"/>
              </a:ext>
            </a:extLst>
          </p:cNvPr>
          <p:cNvSpPr txBox="1"/>
          <p:nvPr/>
        </p:nvSpPr>
        <p:spPr>
          <a:xfrm>
            <a:off x="1794681" y="1039400"/>
            <a:ext cx="602207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Présentation du projet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Enjeux et objectifs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Équipe projet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Spécifications ergonomiques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Spécifications fonctionnelles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Spécifications techniques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Contraintes techniques et réglementaires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Qualité et performance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Rétroplanning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000" dirty="0">
                <a:latin typeface="Montserrat" panose="00000500000000000000" pitchFamily="2" charset="0"/>
              </a:rPr>
              <a:t>Devis</a:t>
            </a:r>
          </a:p>
        </p:txBody>
      </p:sp>
    </p:spTree>
    <p:extLst>
      <p:ext uri="{BB962C8B-B14F-4D97-AF65-F5344CB8AC3E}">
        <p14:creationId xmlns:p14="http://schemas.microsoft.com/office/powerpoint/2010/main" val="360163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/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Présentation du projet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D61640-BC84-6AFC-F293-A746F457FD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D2DA59C-4FD7-1F03-3CFC-B5DA389ECC02}"/>
              </a:ext>
            </a:extLst>
          </p:cNvPr>
          <p:cNvSpPr txBox="1"/>
          <p:nvPr/>
        </p:nvSpPr>
        <p:spPr>
          <a:xfrm>
            <a:off x="470517" y="1526050"/>
            <a:ext cx="79805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latin typeface="Montserrat" panose="00000500000000000000" pitchFamily="2" charset="0"/>
              </a:rPr>
              <a:t>Contexte</a:t>
            </a:r>
            <a:br>
              <a:rPr lang="fr-FR" sz="1200" dirty="0">
                <a:latin typeface="Montserrat" panose="00000500000000000000" pitchFamily="2" charset="0"/>
              </a:rPr>
            </a:br>
            <a:r>
              <a:rPr lang="fr-FR" sz="1200" dirty="0" err="1">
                <a:latin typeface="Montserrat" panose="00000500000000000000" pitchFamily="2" charset="0"/>
              </a:rPr>
              <a:t>Aéroworld</a:t>
            </a:r>
            <a:r>
              <a:rPr lang="fr-FR" sz="1200" dirty="0">
                <a:latin typeface="Montserrat" panose="00000500000000000000" pitchFamily="2" charset="0"/>
              </a:rPr>
              <a:t>, leader mondial de l’aéronautique, fait face à un défi majeur de gestion et valorisation de la data et recherchent </a:t>
            </a:r>
            <a:r>
              <a:rPr lang="fr-FR" sz="1200" dirty="0"/>
              <a:t>un profil de Data </a:t>
            </a:r>
            <a:r>
              <a:rPr lang="fr-FR" sz="1200" dirty="0" err="1"/>
              <a:t>Analyst</a:t>
            </a:r>
            <a:r>
              <a:rPr lang="fr-FR" sz="1200" dirty="0"/>
              <a:t> chef de projet.</a:t>
            </a:r>
          </a:p>
          <a:p>
            <a:endParaRPr lang="fr-FR" sz="1200" b="1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Projet</a:t>
            </a:r>
            <a:br>
              <a:rPr lang="fr-FR" sz="1200" dirty="0">
                <a:latin typeface="Montserrat" panose="00000500000000000000" pitchFamily="2" charset="0"/>
              </a:rPr>
            </a:br>
            <a:r>
              <a:rPr lang="fr-FR" sz="1200" dirty="0">
                <a:latin typeface="Montserrat" panose="00000500000000000000" pitchFamily="2" charset="0"/>
              </a:rPr>
              <a:t>Réaliser un </a:t>
            </a:r>
            <a:r>
              <a:rPr lang="fr-FR" sz="1200" b="1" dirty="0">
                <a:latin typeface="Montserrat" panose="00000500000000000000" pitchFamily="2" charset="0"/>
              </a:rPr>
              <a:t>Portfolio Data </a:t>
            </a:r>
            <a:r>
              <a:rPr lang="fr-FR" sz="1200" b="1" dirty="0" err="1">
                <a:latin typeface="Montserrat" panose="00000500000000000000" pitchFamily="2" charset="0"/>
              </a:rPr>
              <a:t>Analyst</a:t>
            </a:r>
            <a:r>
              <a:rPr lang="fr-FR" sz="1200" dirty="0">
                <a:latin typeface="Montserrat" panose="00000500000000000000" pitchFamily="2" charset="0"/>
              </a:rPr>
              <a:t> structuré et visuel, destiné à démontrer :</a:t>
            </a:r>
          </a:p>
          <a:p>
            <a:r>
              <a:rPr lang="fr-FR" sz="1200" dirty="0">
                <a:latin typeface="Montserrat" panose="00000500000000000000" pitchFamily="2" charset="0"/>
              </a:rPr>
              <a:t>Les compétences techniques en analyse et visualisation de données.</a:t>
            </a:r>
          </a:p>
          <a:p>
            <a:r>
              <a:rPr lang="fr-FR" sz="1200" dirty="0">
                <a:latin typeface="Montserrat" panose="00000500000000000000" pitchFamily="2" charset="0"/>
              </a:rPr>
              <a:t>La capacité à organiser et piloter un projet data.</a:t>
            </a:r>
          </a:p>
          <a:p>
            <a:r>
              <a:rPr lang="fr-FR" sz="1200" dirty="0">
                <a:latin typeface="Montserrat" panose="00000500000000000000" pitchFamily="2" charset="0"/>
              </a:rPr>
              <a:t>La posture de consultant et les soft </a:t>
            </a:r>
            <a:r>
              <a:rPr lang="fr-FR" sz="1200" dirty="0" err="1">
                <a:latin typeface="Montserrat" panose="00000500000000000000" pitchFamily="2" charset="0"/>
              </a:rPr>
              <a:t>skills</a:t>
            </a:r>
            <a:r>
              <a:rPr lang="fr-FR" sz="1200" dirty="0">
                <a:latin typeface="Montserrat" panose="00000500000000000000" pitchFamily="2" charset="0"/>
              </a:rPr>
              <a:t> nécessaires au métier.</a:t>
            </a:r>
          </a:p>
        </p:txBody>
      </p:sp>
    </p:spTree>
    <p:extLst>
      <p:ext uri="{BB962C8B-B14F-4D97-AF65-F5344CB8AC3E}">
        <p14:creationId xmlns:p14="http://schemas.microsoft.com/office/powerpoint/2010/main" val="118738332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2963D9EF-FB65-1B9C-33B9-1AD6FB092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4ECCF1A1-6B0D-2757-4E25-8D73821B52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Enjeux et objectifs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BA5A52-32D4-A545-9853-41131F23D9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EBFD5B7-08F8-DA0B-85D6-30946496433A}"/>
              </a:ext>
            </a:extLst>
          </p:cNvPr>
          <p:cNvSpPr txBox="1"/>
          <p:nvPr/>
        </p:nvSpPr>
        <p:spPr>
          <a:xfrm>
            <a:off x="669443" y="899069"/>
            <a:ext cx="75165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Besoins de l’entreprise / du client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Améliorer l’exploitation de grandes volumétries de données.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Recruter un Data </a:t>
            </a:r>
            <a:r>
              <a:rPr lang="fr-FR" sz="1200" dirty="0" err="1">
                <a:latin typeface="Montserrat" panose="00000500000000000000" pitchFamily="2" charset="0"/>
              </a:rPr>
              <a:t>Analyst</a:t>
            </a:r>
            <a:r>
              <a:rPr lang="fr-FR" sz="1200" dirty="0">
                <a:latin typeface="Montserrat" panose="00000500000000000000" pitchFamily="2" charset="0"/>
              </a:rPr>
              <a:t> capable d’évoluer vers le rôle de Chef de projet.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S’assurer de la posture de conseil et de la capacité à accompagner les équipes.</a:t>
            </a:r>
          </a:p>
          <a:p>
            <a:pPr>
              <a:buNone/>
            </a:pPr>
            <a:endParaRPr lang="fr-FR" sz="1200" b="1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Raisons du besoin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Défis liés à l’intégration, la sécurité et la valorisation de données massives.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Nécessité de méthodes fiables pour transformer la data en leviers stratégiques.</a:t>
            </a:r>
          </a:p>
          <a:p>
            <a:pPr>
              <a:buNone/>
            </a:pPr>
            <a:endParaRPr lang="fr-FR" sz="1200" b="1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Objectifs SMART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Spécifique</a:t>
            </a:r>
            <a:r>
              <a:rPr lang="fr-FR" sz="1200" dirty="0">
                <a:latin typeface="Montserrat" panose="00000500000000000000" pitchFamily="2" charset="0"/>
              </a:rPr>
              <a:t> : Structurer un portfolio complet intégrant livrables, documentation et tableaux de bord.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Mesurable</a:t>
            </a:r>
            <a:r>
              <a:rPr lang="fr-FR" sz="1200" dirty="0">
                <a:latin typeface="Montserrat" panose="00000500000000000000" pitchFamily="2" charset="0"/>
              </a:rPr>
              <a:t> : Démontrer au moins 5 compétences clés (veille, gestion de projet, data </a:t>
            </a:r>
            <a:r>
              <a:rPr lang="fr-FR" sz="1200" dirty="0" err="1">
                <a:latin typeface="Montserrat" panose="00000500000000000000" pitchFamily="2" charset="0"/>
              </a:rPr>
              <a:t>viz</a:t>
            </a:r>
            <a:r>
              <a:rPr lang="fr-FR" sz="1200" dirty="0">
                <a:latin typeface="Montserrat" panose="00000500000000000000" pitchFamily="2" charset="0"/>
              </a:rPr>
              <a:t>, doc, formation).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Atteignable</a:t>
            </a:r>
            <a:r>
              <a:rPr lang="fr-FR" sz="1200" dirty="0">
                <a:latin typeface="Montserrat" panose="00000500000000000000" pitchFamily="2" charset="0"/>
              </a:rPr>
              <a:t> : Réaliser les livrables dans le temps imparti et selon les consignes du cahier des charges.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Réaliste</a:t>
            </a:r>
            <a:r>
              <a:rPr lang="fr-FR" sz="1200" dirty="0">
                <a:latin typeface="Montserrat" panose="00000500000000000000" pitchFamily="2" charset="0"/>
              </a:rPr>
              <a:t> : Répondre aux attentes d’</a:t>
            </a:r>
            <a:r>
              <a:rPr lang="fr-FR" sz="1200" dirty="0" err="1">
                <a:latin typeface="Montserrat" panose="00000500000000000000" pitchFamily="2" charset="0"/>
              </a:rPr>
              <a:t>Aéroworld</a:t>
            </a:r>
            <a:r>
              <a:rPr lang="fr-FR" sz="1200" dirty="0">
                <a:latin typeface="Montserrat" panose="00000500000000000000" pitchFamily="2" charset="0"/>
              </a:rPr>
              <a:t> en illustrant une posture de consultant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Temporel</a:t>
            </a:r>
            <a:r>
              <a:rPr lang="fr-FR" sz="1200" dirty="0">
                <a:latin typeface="Montserrat" panose="00000500000000000000" pitchFamily="2" charset="0"/>
              </a:rPr>
              <a:t> : Présenter le portfolio final à l’oral en fin de projet .</a:t>
            </a:r>
          </a:p>
        </p:txBody>
      </p:sp>
    </p:spTree>
    <p:extLst>
      <p:ext uri="{BB962C8B-B14F-4D97-AF65-F5344CB8AC3E}">
        <p14:creationId xmlns:p14="http://schemas.microsoft.com/office/powerpoint/2010/main" val="23993722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F065414C-9694-3E3D-C050-354B6A9F6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63E43251-871A-1CF4-1A74-D2C409ED7A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Équipe projet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BA7935-3DCD-3775-CEB1-A8DDC3CBB6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0B9A501-2910-E22C-92D7-1664153F8B8B}"/>
              </a:ext>
            </a:extLst>
          </p:cNvPr>
          <p:cNvSpPr txBox="1"/>
          <p:nvPr/>
        </p:nvSpPr>
        <p:spPr>
          <a:xfrm>
            <a:off x="958053" y="1444497"/>
            <a:ext cx="6306348" cy="2117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/>
              <a:t>Liodenot Julien –Data </a:t>
            </a:r>
            <a:r>
              <a:rPr lang="fr-FR" dirty="0" err="1"/>
              <a:t>Analyst</a:t>
            </a:r>
            <a:r>
              <a:rPr lang="fr-FR" dirty="0"/>
              <a:t> chez Data ESN</a:t>
            </a:r>
          </a:p>
          <a:p>
            <a:pPr>
              <a:lnSpc>
                <a:spcPct val="150000"/>
              </a:lnSpc>
            </a:pPr>
            <a:r>
              <a:rPr lang="fr-FR" dirty="0"/>
              <a:t>Hayley–Manager chez Data ESN</a:t>
            </a:r>
          </a:p>
          <a:p>
            <a:pPr>
              <a:lnSpc>
                <a:spcPct val="150000"/>
              </a:lnSpc>
            </a:pPr>
            <a:r>
              <a:rPr lang="fr-FR" dirty="0"/>
              <a:t>Suzanne, Responsable commerciale chez Data ESN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592705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94CC399F-E0E3-372C-8A96-2C04E4534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9A23A12B-BA05-8598-C122-E81EB72F75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Spécifications ergonomiques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A90D2C-96C0-80D6-777F-E294390272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1B7573A-FE43-3CFD-D8C6-EB3407C06BD2}"/>
              </a:ext>
            </a:extLst>
          </p:cNvPr>
          <p:cNvSpPr txBox="1"/>
          <p:nvPr/>
        </p:nvSpPr>
        <p:spPr>
          <a:xfrm>
            <a:off x="958052" y="1039400"/>
            <a:ext cx="67103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Principes ergonomiques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Lisibilité : mise en page claire, hiérarchie visuelle (titres, sous-titres, couleurs).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Cohérence : charte graphique homogène (couleurs, polices, pictogrammes).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Simplicité : limiter la surcharge d’informations, privilégier des visuels synthétiques.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Accessibilité : textes contrastés, navigation fluide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200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Principes de navigation &amp; UX design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Parcours utilisateur clair : accès direct aux sections principales (profil, projets, livrables).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Menu de navigation fixe et intuitif.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Liens cliquables vers les livrables (PDF, vidéos,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Intégration de visuels interactifs (captures, </a:t>
            </a:r>
            <a:r>
              <a:rPr lang="fr-FR" sz="1200" dirty="0" err="1">
                <a:latin typeface="Montserrat" panose="00000500000000000000" pitchFamily="2" charset="0"/>
              </a:rPr>
              <a:t>mockups</a:t>
            </a:r>
            <a:r>
              <a:rPr lang="fr-FR" sz="1200" dirty="0">
                <a:latin typeface="Montserrat" panose="00000500000000000000" pitchFamily="2" charset="0"/>
              </a:rPr>
              <a:t>, graphiques) pour valoriser le contenu.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Fluidité : transitions simples, temps de chargement réduit.</a:t>
            </a:r>
          </a:p>
        </p:txBody>
      </p:sp>
    </p:spTree>
    <p:extLst>
      <p:ext uri="{BB962C8B-B14F-4D97-AF65-F5344CB8AC3E}">
        <p14:creationId xmlns:p14="http://schemas.microsoft.com/office/powerpoint/2010/main" val="107778642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EFFD5A21-5A4E-7EC8-8802-6370458C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80553A99-7EBD-09FC-F642-55D7AB7EE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Spécifications fonctionnelles</a:t>
            </a:r>
            <a:br>
              <a:rPr lang="fr-FR" sz="3200" dirty="0">
                <a:latin typeface="Montserrat" panose="00000500000000000000" pitchFamily="2" charset="0"/>
              </a:rPr>
            </a:br>
            <a:endParaRPr lang="fr-FR" sz="3200" dirty="0">
              <a:latin typeface="Montserrat" panose="00000500000000000000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5AC3C9-946C-A888-3A5F-43710031CD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4FBEBA0-690A-AF8D-047E-1ED2252EA3FB}"/>
              </a:ext>
            </a:extLst>
          </p:cNvPr>
          <p:cNvSpPr txBox="1"/>
          <p:nvPr/>
        </p:nvSpPr>
        <p:spPr>
          <a:xfrm>
            <a:off x="559559" y="1226615"/>
            <a:ext cx="858444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Fonctionnalités prévues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Présentation du profil, des compétences et des soft </a:t>
            </a:r>
            <a:r>
              <a:rPr lang="fr-FR" sz="1200" dirty="0" err="1">
                <a:latin typeface="Montserrat" panose="00000500000000000000" pitchFamily="2" charset="0"/>
              </a:rPr>
              <a:t>skills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Intégration des livrables demandés (cahier des charges, Gantt,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, vidéo de formation).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Section de veille métier (tests d’outils et méthodes).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Documentation téléchargeable (procédures, analyses).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Interface simple de navigation (menu + liens directs vers livrables).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Prise en compte du besoin client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Répondre aux attentes d’</a:t>
            </a:r>
            <a:r>
              <a:rPr lang="fr-FR" sz="1200" dirty="0" err="1">
                <a:latin typeface="Montserrat" panose="00000500000000000000" pitchFamily="2" charset="0"/>
              </a:rPr>
              <a:t>Aéroworld</a:t>
            </a:r>
            <a:r>
              <a:rPr lang="fr-FR" sz="1200" dirty="0">
                <a:latin typeface="Montserrat" panose="00000500000000000000" pitchFamily="2" charset="0"/>
              </a:rPr>
              <a:t> : démonstration de compétences BI et posture de consultant.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Portfolio conçu comme un outil évolutif : possibilité d’ajouter de nouveaux projets ou livrables.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Valorisation de la capacité d’adaptation et d’accompagnement des équipes.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200" dirty="0">
              <a:latin typeface="Montserrat" panose="00000500000000000000" pitchFamily="2" charset="0"/>
            </a:endParaRPr>
          </a:p>
          <a:p>
            <a:pPr>
              <a:buNone/>
            </a:pPr>
            <a:r>
              <a:rPr lang="fr-FR" sz="1200" b="1" dirty="0">
                <a:latin typeface="Montserrat" panose="00000500000000000000" pitchFamily="2" charset="0"/>
              </a:rPr>
              <a:t>Conformité légale et réglementaire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Respect du </a:t>
            </a:r>
            <a:r>
              <a:rPr lang="fr-FR" sz="1200" b="1" dirty="0">
                <a:latin typeface="Montserrat" panose="00000500000000000000" pitchFamily="2" charset="0"/>
              </a:rPr>
              <a:t>RGPD</a:t>
            </a:r>
            <a:r>
              <a:rPr lang="fr-FR" sz="1200" dirty="0">
                <a:latin typeface="Montserrat" panose="00000500000000000000" pitchFamily="2" charset="0"/>
              </a:rPr>
              <a:t> : protection des données personnelles, anonymisation des exemples si besoin.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Conformité aux standards français et européens en matière de sécurité et confidentialité.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Limitation de la collecte de données : seules les informations pertinentes pour le recrutement sont intégrées.</a:t>
            </a:r>
          </a:p>
        </p:txBody>
      </p:sp>
    </p:spTree>
    <p:extLst>
      <p:ext uri="{BB962C8B-B14F-4D97-AF65-F5344CB8AC3E}">
        <p14:creationId xmlns:p14="http://schemas.microsoft.com/office/powerpoint/2010/main" val="39629611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B0885936-A61C-4C89-A7AE-7883584C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7A1CDE69-53E6-33CC-9AF3-8F871E9E8B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Spécifications techniques</a:t>
            </a:r>
            <a:br>
              <a:rPr lang="fr-FR" sz="3200" dirty="0">
                <a:latin typeface="Montserrat" panose="00000500000000000000" pitchFamily="2" charset="0"/>
              </a:rPr>
            </a:br>
            <a:endParaRPr lang="fr-FR" sz="3200" dirty="0">
              <a:latin typeface="Montserrat" panose="00000500000000000000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BA4F75-D2A8-110D-EC85-5722E1A80B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7306E3-202C-197E-DD9F-8BA34976B34D}"/>
              </a:ext>
            </a:extLst>
          </p:cNvPr>
          <p:cNvSpPr txBox="1"/>
          <p:nvPr/>
        </p:nvSpPr>
        <p:spPr>
          <a:xfrm>
            <a:off x="522027" y="717685"/>
            <a:ext cx="8099946" cy="4216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Environnement technique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Hébergement : plateforme GitHub.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Formats intégrés : PDF (cahier des charges, documentation), PPTX/PDF (présentations), MP4 (vidéo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r>
              <a:rPr lang="fr-FR" sz="1200" dirty="0">
                <a:latin typeface="Montserrat" panose="00000500000000000000" pitchFamily="2" charset="0"/>
              </a:rPr>
              <a:t>), liens interactifs (Tableau / Power BI).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Technologies et outils utilisés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Data Visualisation</a:t>
            </a:r>
            <a:r>
              <a:rPr lang="fr-FR" sz="1200" dirty="0">
                <a:latin typeface="Montserrat" panose="00000500000000000000" pitchFamily="2" charset="0"/>
              </a:rPr>
              <a:t> :  Tableau Software.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Gestion de projet</a:t>
            </a:r>
            <a:r>
              <a:rPr lang="fr-FR" sz="1200" dirty="0">
                <a:latin typeface="Montserrat" panose="00000500000000000000" pitchFamily="2" charset="0"/>
              </a:rPr>
              <a:t> : Diagramme de Gantt ( Tableau).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Montage vidéo</a:t>
            </a:r>
            <a:r>
              <a:rPr lang="fr-FR" sz="1200" dirty="0">
                <a:latin typeface="Montserrat" panose="00000500000000000000" pitchFamily="2" charset="0"/>
              </a:rPr>
              <a:t> :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Édition graphique</a:t>
            </a:r>
            <a:r>
              <a:rPr lang="fr-FR" sz="1200" dirty="0">
                <a:latin typeface="Montserrat" panose="00000500000000000000" pitchFamily="2" charset="0"/>
              </a:rPr>
              <a:t> : </a:t>
            </a:r>
            <a:r>
              <a:rPr lang="fr-FR" sz="1200" dirty="0" err="1">
                <a:latin typeface="Montserrat" panose="00000500000000000000" pitchFamily="2" charset="0"/>
              </a:rPr>
              <a:t>Figma</a:t>
            </a:r>
            <a:r>
              <a:rPr lang="fr-FR" sz="1200" dirty="0">
                <a:latin typeface="Montserrat" panose="00000500000000000000" pitchFamily="2" charset="0"/>
              </a:rPr>
              <a:t> / Miro (</a:t>
            </a:r>
            <a:r>
              <a:rPr lang="fr-FR" sz="1200" dirty="0" err="1">
                <a:latin typeface="Montserrat" panose="00000500000000000000" pitchFamily="2" charset="0"/>
              </a:rPr>
              <a:t>mockups</a:t>
            </a:r>
            <a:r>
              <a:rPr lang="fr-FR" sz="1200" dirty="0">
                <a:latin typeface="Montserrat" panose="00000500000000000000" pitchFamily="2" charset="0"/>
              </a:rPr>
              <a:t>, ergonomie).</a:t>
            </a:r>
          </a:p>
          <a:p>
            <a:pPr>
              <a:lnSpc>
                <a:spcPct val="150000"/>
              </a:lnSpc>
            </a:pP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Exigences de performance et sécurité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Temps de chargement optimisé (fichiers compressés, ressources légères).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Navigation fluide sans installation de logiciel spécifique.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Respect des bonnes pratiques de sécurité (pas de données sensibles exposées).</a:t>
            </a:r>
          </a:p>
        </p:txBody>
      </p:sp>
    </p:spTree>
    <p:extLst>
      <p:ext uri="{BB962C8B-B14F-4D97-AF65-F5344CB8AC3E}">
        <p14:creationId xmlns:p14="http://schemas.microsoft.com/office/powerpoint/2010/main" val="185917454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6624D9C0-E6A4-8AFF-3A79-6988A7838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EC59F9E1-142A-64BA-B0E5-A697445DC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Contraintes techniques et réglementaires</a:t>
            </a:r>
            <a:br>
              <a:rPr lang="fr-FR" sz="3200" dirty="0">
                <a:latin typeface="Montserrat" panose="00000500000000000000" pitchFamily="2" charset="0"/>
              </a:rPr>
            </a:br>
            <a:endParaRPr lang="fr-FR" sz="3200" dirty="0">
              <a:latin typeface="Montserrat" panose="00000500000000000000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75AE67-B340-2909-0461-8C4A254178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A9CD790-ED4D-C38B-D652-7642D135839E}"/>
              </a:ext>
            </a:extLst>
          </p:cNvPr>
          <p:cNvSpPr txBox="1"/>
          <p:nvPr/>
        </p:nvSpPr>
        <p:spPr>
          <a:xfrm>
            <a:off x="569090" y="1376741"/>
            <a:ext cx="7646861" cy="338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Choix techniques pour le portfolio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Hébergement prévu : </a:t>
            </a:r>
            <a:r>
              <a:rPr lang="fr-FR" sz="1200" b="1" dirty="0">
                <a:latin typeface="Montserrat" panose="00000500000000000000" pitchFamily="2" charset="0"/>
              </a:rPr>
              <a:t>GitHub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Nom de domaine : </a:t>
            </a:r>
            <a:r>
              <a:rPr lang="fr-FR" sz="1200" dirty="0">
                <a:latin typeface="Montserrat" panose="00000500000000000000" pitchFamily="2" charset="0"/>
                <a:hlinkClick r:id="rId3"/>
              </a:rPr>
              <a:t>github.com/</a:t>
            </a:r>
            <a:r>
              <a:rPr lang="fr-FR" sz="1200" dirty="0" err="1">
                <a:latin typeface="Montserrat" panose="00000500000000000000" pitchFamily="2" charset="0"/>
                <a:hlinkClick r:id="rId3"/>
              </a:rPr>
              <a:t>julienliodenot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Compatibilité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Appareils : PC, tablette, smartphone.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Navigateurs : Chrome, Edge, Firefox, Safari (versions récentes)..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Sécurité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Chiffrement HTTPS (certificat SSL activé).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Respect du RGPD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Aucune donnée personnelle sensible collectée.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Utilisation uniquement de contenus professionnels ou anonymisés.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Transparence sur les sources de données utilisées dans les exemples.</a:t>
            </a:r>
          </a:p>
        </p:txBody>
      </p:sp>
    </p:spTree>
    <p:extLst>
      <p:ext uri="{BB962C8B-B14F-4D97-AF65-F5344CB8AC3E}">
        <p14:creationId xmlns:p14="http://schemas.microsoft.com/office/powerpoint/2010/main" val="249870078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F2F7E190-B1BF-2FF4-6D0B-A88DC97A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7975DF74-604B-A773-CFC2-280AF50491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Qualité et performance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F620ED-AA75-8987-1553-1D6C22EA65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6D757C4-7721-149D-AF7F-BAF6E7AF3AA3}"/>
              </a:ext>
            </a:extLst>
          </p:cNvPr>
          <p:cNvSpPr txBox="1"/>
          <p:nvPr/>
        </p:nvSpPr>
        <p:spPr>
          <a:xfrm>
            <a:off x="561264" y="717685"/>
            <a:ext cx="8021472" cy="4216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Contraintes à prendre en compte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Temps</a:t>
            </a:r>
            <a:r>
              <a:rPr lang="fr-FR" sz="1200" dirty="0">
                <a:latin typeface="Montserrat" panose="00000500000000000000" pitchFamily="2" charset="0"/>
              </a:rPr>
              <a:t> : respect du calendrier fixé par le cahier des charges (délais courts).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Budget</a:t>
            </a:r>
            <a:r>
              <a:rPr lang="fr-FR" sz="1200" dirty="0">
                <a:latin typeface="Montserrat" panose="00000500000000000000" pitchFamily="2" charset="0"/>
              </a:rPr>
              <a:t> : projet réalisé dans un cadre de formation → pas de budget financier, mais optimisation des ressources gratuites (GitHub, Tableau version public,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r>
              <a:rPr lang="fr-FR" sz="1200" dirty="0">
                <a:latin typeface="Montserrat" panose="00000500000000000000" pitchFamily="2" charset="0"/>
              </a:rPr>
              <a:t>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Règles client</a:t>
            </a:r>
            <a:r>
              <a:rPr lang="fr-FR" sz="1200" dirty="0">
                <a:latin typeface="Montserrat" panose="00000500000000000000" pitchFamily="2" charset="0"/>
              </a:rPr>
              <a:t> : livrables imposés (cahier des charges, Gantt, tableaux de bord, vidéo, documentation).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Chartes &amp; demandes spécifiques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Cohérence graphique (chartes, couleurs sobres, lisibilité).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Mise en avant de la posture de consultant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Référentiels qualité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Accessibilité et standards du </a:t>
            </a:r>
            <a:r>
              <a:rPr lang="fr-FR" sz="1200" b="1" dirty="0">
                <a:latin typeface="Montserrat" panose="00000500000000000000" pitchFamily="2" charset="0"/>
              </a:rPr>
              <a:t>W3C</a:t>
            </a:r>
            <a:r>
              <a:rPr lang="fr-FR" sz="1200" dirty="0">
                <a:latin typeface="Montserrat" panose="00000500000000000000" pitchFamily="2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Bonnes pratiques </a:t>
            </a:r>
            <a:r>
              <a:rPr lang="fr-FR" sz="1200" b="1" dirty="0" err="1">
                <a:latin typeface="Montserrat" panose="00000500000000000000" pitchFamily="2" charset="0"/>
              </a:rPr>
              <a:t>Opquast</a:t>
            </a:r>
            <a:r>
              <a:rPr lang="fr-FR" sz="1200" dirty="0">
                <a:latin typeface="Montserrat" panose="00000500000000000000" pitchFamily="2" charset="0"/>
              </a:rPr>
              <a:t> (lisibilité, ergonomie, cohérence).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Modalités de recette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Vérification de la complétude des livrables.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Validation par rapport au cahier des charges.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Présentation blanche avec son mentor.</a:t>
            </a:r>
          </a:p>
        </p:txBody>
      </p:sp>
    </p:spTree>
    <p:extLst>
      <p:ext uri="{BB962C8B-B14F-4D97-AF65-F5344CB8AC3E}">
        <p14:creationId xmlns:p14="http://schemas.microsoft.com/office/powerpoint/2010/main" val="290909435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673CC2C1-6B09-FA17-8372-E869C878C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EF3D54D1-5BB9-4F6E-9BEE-BCC7B0E486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Qualité et performance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AA32F2D-F369-DE75-886B-6BB87BF0C5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E00825-8521-E505-9526-464359823B6E}"/>
              </a:ext>
            </a:extLst>
          </p:cNvPr>
          <p:cNvSpPr txBox="1"/>
          <p:nvPr/>
        </p:nvSpPr>
        <p:spPr>
          <a:xfrm>
            <a:off x="670094" y="879203"/>
            <a:ext cx="7803811" cy="3385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KPI à suivre pour évaluer le projet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Coûts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% de respect du budget (utilisation uniquement d’outils gratuits/ouverts).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Délais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% d’avancement par rapport au planning Gantt.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Respect de la date de livraison finale.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Qualité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% de conformité des livrables au cahier des charges.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Nombre d’erreurs relevées lors de la relecture/recette.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b="1" dirty="0">
                <a:latin typeface="Montserrat" panose="00000500000000000000" pitchFamily="2" charset="0"/>
              </a:rPr>
              <a:t>Efficacité &amp; Avancement</a:t>
            </a:r>
            <a:r>
              <a:rPr lang="fr-FR" sz="1200" dirty="0">
                <a:latin typeface="Montserrat" panose="00000500000000000000" pitchFamily="2" charset="0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Nombre de livrables réalisés / livrables attendus.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Feedback qualitatif (clarté de la présentation orale, lisibilité des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3338160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58A7A994-0BD5-DF09-373E-2BAA8D099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DB348CC7-AF70-4284-9812-1E2F31922D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Rétroplanning</a:t>
            </a:r>
            <a:br>
              <a:rPr lang="fr-FR" sz="3200" dirty="0">
                <a:latin typeface="Montserrat" panose="00000500000000000000" pitchFamily="2" charset="0"/>
              </a:rPr>
            </a:br>
            <a:endParaRPr lang="fr-FR" sz="3200" dirty="0">
              <a:latin typeface="Montserrat" panose="00000500000000000000" pitchFamily="2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14B808-7F21-A8F6-1FF7-E991D88B26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AD55A51-05E9-A680-96B8-787CFFA1C51D}"/>
              </a:ext>
            </a:extLst>
          </p:cNvPr>
          <p:cNvSpPr txBox="1"/>
          <p:nvPr/>
        </p:nvSpPr>
        <p:spPr>
          <a:xfrm>
            <a:off x="781499" y="539750"/>
            <a:ext cx="7581001" cy="449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Rétroplanning – Septembre 2025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Semaine 1 (1–7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Analyse du besoin client </a:t>
            </a:r>
            <a:r>
              <a:rPr lang="fr-FR" sz="1200" dirty="0" err="1">
                <a:latin typeface="Montserrat" panose="00000500000000000000" pitchFamily="2" charset="0"/>
              </a:rPr>
              <a:t>Aéroworld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Rédaction du cahier des charges fonctionnel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Semaine 2 (8–14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Élaboration du diagramme de Gantt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Définition des spécifications (techniques, fonctionnelles, ergonomiques)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Semaine 3 (15–21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Création des </a:t>
            </a:r>
            <a:r>
              <a:rPr lang="fr-FR" sz="1200" dirty="0" err="1">
                <a:latin typeface="Montserrat" panose="00000500000000000000" pitchFamily="2" charset="0"/>
              </a:rPr>
              <a:t>mock-ups</a:t>
            </a:r>
            <a:r>
              <a:rPr lang="fr-FR" sz="1200" dirty="0">
                <a:latin typeface="Montserrat" panose="00000500000000000000" pitchFamily="2" charset="0"/>
              </a:rPr>
              <a:t> (portfolio +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Début développement des tableaux de bord (veille métier &amp; profil)</a:t>
            </a: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Semaine 4 (22–28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Finalisation des </a:t>
            </a:r>
            <a:r>
              <a:rPr lang="fr-FR" sz="1200" dirty="0" err="1">
                <a:latin typeface="Montserrat" panose="00000500000000000000" pitchFamily="2" charset="0"/>
              </a:rPr>
              <a:t>dashboards</a:t>
            </a:r>
            <a:r>
              <a:rPr lang="fr-FR" sz="1200" dirty="0">
                <a:latin typeface="Montserrat" panose="00000500000000000000" pitchFamily="2" charset="0"/>
              </a:rPr>
              <a:t> et de la documentation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Préparation et enregistrement de la vidéo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sz="1200" b="1" dirty="0">
                <a:latin typeface="Montserrat" panose="00000500000000000000" pitchFamily="2" charset="0"/>
              </a:rPr>
              <a:t>Clôture (29–30 sept.)</a:t>
            </a:r>
            <a:endParaRPr lang="fr-FR" sz="12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Intégration finale dans le portfolio (GitHub)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200" dirty="0">
                <a:latin typeface="Montserrat" panose="00000500000000000000" pitchFamily="2" charset="0"/>
              </a:rPr>
              <a:t>Vérification qualité &amp; préparation de la présentation orale</a:t>
            </a:r>
          </a:p>
        </p:txBody>
      </p:sp>
    </p:spTree>
    <p:extLst>
      <p:ext uri="{BB962C8B-B14F-4D97-AF65-F5344CB8AC3E}">
        <p14:creationId xmlns:p14="http://schemas.microsoft.com/office/powerpoint/2010/main" val="384327790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>
          <a:extLst>
            <a:ext uri="{FF2B5EF4-FFF2-40B4-BE49-F238E27FC236}">
              <a16:creationId xmlns:a16="http://schemas.microsoft.com/office/drawing/2014/main" id="{C702E45C-9AC0-4B01-6663-8772F572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">
            <a:extLst>
              <a:ext uri="{FF2B5EF4-FFF2-40B4-BE49-F238E27FC236}">
                <a16:creationId xmlns:a16="http://schemas.microsoft.com/office/drawing/2014/main" id="{E454D637-0D8A-F66C-DC33-85E39496E5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fr-FR" sz="3200" dirty="0">
                <a:latin typeface="Montserrat" panose="00000500000000000000" pitchFamily="2" charset="0"/>
              </a:rPr>
              <a:t>Devis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1948E3-EE2C-0ECB-AB08-1C3AA5515C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fld>
            <a:endParaRPr lang="fr-FR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80C2E6C-EABB-0626-902D-6A0420098669}"/>
              </a:ext>
            </a:extLst>
          </p:cNvPr>
          <p:cNvSpPr txBox="1"/>
          <p:nvPr/>
        </p:nvSpPr>
        <p:spPr>
          <a:xfrm>
            <a:off x="464272" y="778792"/>
            <a:ext cx="801806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latin typeface="Montserrat" panose="00000500000000000000" pitchFamily="2" charset="0"/>
              </a:rPr>
              <a:t>Ressources Humaines (RH)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Temps de travail candidat : 70 h</a:t>
            </a:r>
          </a:p>
          <a:p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3 500 </a:t>
            </a:r>
            <a:r>
              <a:rPr lang="fr-FR" sz="1200" b="1" dirty="0">
                <a:latin typeface="Montserrat" panose="00000500000000000000" pitchFamily="2" charset="0"/>
              </a:rPr>
              <a:t>€ </a:t>
            </a:r>
            <a:r>
              <a:rPr lang="fr-FR" sz="1200" dirty="0">
                <a:latin typeface="Montserrat" panose="00000500000000000000" pitchFamily="2" charset="0"/>
              </a:rPr>
              <a:t>(à 50 €/h)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Achats matériels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Aucun matériel spécifique (usage PC personnel déjà équipé)</a:t>
            </a:r>
          </a:p>
          <a:p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0</a:t>
            </a:r>
            <a:r>
              <a:rPr lang="fr-FR" sz="1200" dirty="0">
                <a:latin typeface="Montserrat" panose="00000500000000000000" pitchFamily="2" charset="0"/>
              </a:rPr>
              <a:t> €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Achats immatériels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Outils gratuits (Tableau Public, </a:t>
            </a:r>
            <a:r>
              <a:rPr lang="fr-FR" sz="1200" dirty="0" err="1">
                <a:latin typeface="Montserrat" panose="00000500000000000000" pitchFamily="2" charset="0"/>
              </a:rPr>
              <a:t>Loom</a:t>
            </a:r>
            <a:r>
              <a:rPr lang="fr-FR" sz="1200" dirty="0">
                <a:latin typeface="Montserrat" panose="00000500000000000000" pitchFamily="2" charset="0"/>
              </a:rPr>
              <a:t> free, GitHub Pages)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Nom de domaine (</a:t>
            </a:r>
            <a:r>
              <a:rPr lang="fr-FR" sz="1200" dirty="0" err="1">
                <a:latin typeface="Montserrat" panose="00000500000000000000" pitchFamily="2" charset="0"/>
              </a:rPr>
              <a:t>github</a:t>
            </a:r>
            <a:r>
              <a:rPr lang="fr-FR" sz="1200" dirty="0">
                <a:latin typeface="Montserrat" panose="00000500000000000000" pitchFamily="2" charset="0"/>
              </a:rPr>
              <a:t>): </a:t>
            </a:r>
          </a:p>
          <a:p>
            <a:r>
              <a:rPr lang="fr-F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0</a:t>
            </a:r>
            <a:r>
              <a:rPr lang="fr-FR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 </a:t>
            </a:r>
            <a:r>
              <a:rPr lang="fr-FR" sz="1200" dirty="0">
                <a:latin typeface="Montserrat" panose="00000500000000000000" pitchFamily="2" charset="0"/>
              </a:rPr>
              <a:t>€ / an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Marge commerciale 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dirty="0">
                <a:latin typeface="Montserrat" panose="00000500000000000000" pitchFamily="2" charset="0"/>
              </a:rPr>
              <a:t>Gestion de projet &amp; accompagnement (20 % des coûts RH) : 700 €</a:t>
            </a:r>
          </a:p>
          <a:p>
            <a:endParaRPr lang="fr-FR" sz="1200" dirty="0">
              <a:latin typeface="Montserrat" panose="00000500000000000000" pitchFamily="2" charset="0"/>
            </a:endParaRPr>
          </a:p>
          <a:p>
            <a:r>
              <a:rPr lang="fr-FR" sz="1200" b="1" dirty="0">
                <a:latin typeface="Montserrat" panose="00000500000000000000" pitchFamily="2" charset="0"/>
              </a:rPr>
              <a:t>Prix final estimatif : </a:t>
            </a:r>
            <a:r>
              <a:rPr lang="fr-FR" sz="1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" panose="00000500000000000000" pitchFamily="2" charset="0"/>
              </a:rPr>
              <a:t>4 200 </a:t>
            </a:r>
            <a:r>
              <a:rPr lang="fr-FR" sz="1200" b="1" dirty="0">
                <a:latin typeface="Montserrat" panose="00000500000000000000" pitchFamily="2" charset="0"/>
              </a:rPr>
              <a:t>€</a:t>
            </a:r>
          </a:p>
        </p:txBody>
      </p:sp>
    </p:spTree>
    <p:extLst>
      <p:ext uri="{BB962C8B-B14F-4D97-AF65-F5344CB8AC3E}">
        <p14:creationId xmlns:p14="http://schemas.microsoft.com/office/powerpoint/2010/main" val="357742781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AA91B4-EDF7-7B30-9663-3FC05D7B8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842" y="2219270"/>
            <a:ext cx="7979458" cy="514314"/>
          </a:xfrm>
        </p:spPr>
        <p:txBody>
          <a:bodyPr/>
          <a:lstStyle/>
          <a:p>
            <a:r>
              <a:rPr lang="fr-FR" dirty="0">
                <a:hlinkClick r:id="rId2"/>
              </a:rPr>
              <a:t>https://github.com/julienliodenot/Portfolio-Business-Intelligence-Analyst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00772E-B7EE-E159-C7A0-2FCC651ACE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sp>
        <p:nvSpPr>
          <p:cNvPr id="5" name="Google Shape;282;p2">
            <a:extLst>
              <a:ext uri="{FF2B5EF4-FFF2-40B4-BE49-F238E27FC236}">
                <a16:creationId xmlns:a16="http://schemas.microsoft.com/office/drawing/2014/main" id="{B7582453-E29B-ADE0-EA39-E6570CC1FAAC}"/>
              </a:ext>
            </a:extLst>
          </p:cNvPr>
          <p:cNvSpPr txBox="1">
            <a:spLocks/>
          </p:cNvSpPr>
          <p:nvPr/>
        </p:nvSpPr>
        <p:spPr>
          <a:xfrm>
            <a:off x="958052" y="40100"/>
            <a:ext cx="7030500" cy="99930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lvl="0" algn="l" defTabSz="3429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7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2"/>
                </a:solidFill>
              </a:defRPr>
            </a:lvl2pPr>
            <a:lvl3pPr lvl="2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2"/>
                </a:solidFill>
              </a:defRPr>
            </a:lvl3pPr>
            <a:lvl4pPr lvl="3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2"/>
                </a:solidFill>
              </a:defRPr>
            </a:lvl4pPr>
            <a:lvl5pPr lvl="4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2"/>
                </a:solidFill>
              </a:defRPr>
            </a:lvl5pPr>
            <a:lvl6pPr lvl="5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2"/>
                </a:solidFill>
              </a:defRPr>
            </a:lvl6pPr>
            <a:lvl7pPr lvl="6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2"/>
                </a:solidFill>
              </a:defRPr>
            </a:lvl7pPr>
            <a:lvl8pPr lvl="7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2"/>
                </a:solidFill>
              </a:defRPr>
            </a:lvl8pPr>
            <a:lvl9pPr lvl="8" algn="l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2"/>
                </a:solidFill>
              </a:defRPr>
            </a:lvl9pPr>
          </a:lstStyle>
          <a:p>
            <a:r>
              <a:rPr lang="fr-FR" sz="3200" dirty="0"/>
              <a:t>Accès au Portfolio</a:t>
            </a:r>
            <a:endParaRPr lang="fr-FR" sz="32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654383"/>
      </p:ext>
    </p:extLst>
  </p:cSld>
  <p:clrMapOvr>
    <a:masterClrMapping/>
  </p:clrMapOvr>
</p:sld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1159</TotalTime>
  <Words>1224</Words>
  <Application>Microsoft Office PowerPoint</Application>
  <PresentationFormat>Affichage à l'écran (16:9)</PresentationFormat>
  <Paragraphs>182</Paragraphs>
  <Slides>14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2" baseType="lpstr">
      <vt:lpstr>Arial</vt:lpstr>
      <vt:lpstr>Montserrat</vt:lpstr>
      <vt:lpstr>Wingdings 3</vt:lpstr>
      <vt:lpstr>Nunito</vt:lpstr>
      <vt:lpstr>Century Gothic</vt:lpstr>
      <vt:lpstr>Wingdings</vt:lpstr>
      <vt:lpstr>Calibri</vt:lpstr>
      <vt:lpstr>Secteur</vt:lpstr>
      <vt:lpstr>Cahier des charges  Elaboration d’un Portfolio</vt:lpstr>
      <vt:lpstr>Présentation PowerPoint</vt:lpstr>
      <vt:lpstr>Présentation du projet</vt:lpstr>
      <vt:lpstr>Enjeux et objectifs</vt:lpstr>
      <vt:lpstr>Équipe projet</vt:lpstr>
      <vt:lpstr>Spécifications ergonomiques</vt:lpstr>
      <vt:lpstr>Spécifications fonctionnelles </vt:lpstr>
      <vt:lpstr>Spécifications techniques </vt:lpstr>
      <vt:lpstr>Contraintes techniques et réglementaires </vt:lpstr>
      <vt:lpstr>Qualité et performance</vt:lpstr>
      <vt:lpstr>Qualité et performance</vt:lpstr>
      <vt:lpstr>Rétroplanning </vt:lpstr>
      <vt:lpstr>Devis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JeYjEy</dc:creator>
  <cp:lastModifiedBy>julien liodenot</cp:lastModifiedBy>
  <cp:revision>77</cp:revision>
  <dcterms:modified xsi:type="dcterms:W3CDTF">2025-09-23T07:00:33Z</dcterms:modified>
</cp:coreProperties>
</file>